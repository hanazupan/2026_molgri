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101.png" ContentType="image/png"/>
  <Override PartName="/ppt/media/image52.png" ContentType="image/png"/>
  <Override PartName="/ppt/media/image100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81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70.png" ContentType="image/png"/>
  <Override PartName="/ppt/media/image69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75.png" ContentType="image/png"/>
  <Override PartName="/ppt/media/image76.png" ContentType="image/png"/>
  <Override PartName="/ppt/media/image64.png" ContentType="image/png"/>
  <Override PartName="/ppt/media/image99.png" ContentType="image/png"/>
  <Override PartName="/ppt/media/image62.png" ContentType="image/png"/>
  <Override PartName="/ppt/media/image87.png" ContentType="image/png"/>
  <Override PartName="/ppt/media/image63.png" ContentType="image/png"/>
  <Override PartName="/ppt/media/image98.png" ContentType="image/png"/>
  <Override PartName="/ppt/media/image61.png" ContentType="image/png"/>
  <Override PartName="/ppt/media/image86.png" ContentType="image/png"/>
  <Override PartName="/ppt/media/image97.png" ContentType="image/png"/>
  <Override PartName="/ppt/media/image60.png" ContentType="image/png"/>
  <Override PartName="/ppt/media/image85.png" ContentType="image/png"/>
  <Override PartName="/ppt/media/image96.png" ContentType="image/png"/>
  <Override PartName="/ppt/media/image95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9.png" ContentType="image/png"/>
  <Override PartName="/ppt/media/image78.png" ContentType="image/png"/>
  <Override PartName="/ppt/media/image29.png" ContentType="image/png"/>
  <Override PartName="/ppt/media/image94.png" ContentType="image/png"/>
  <Override PartName="/ppt/media/image28.png" ContentType="image/png"/>
  <Override PartName="/ppt/media/image93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21.png" ContentType="image/png"/>
  <Override PartName="/ppt/media/image58.png" ContentType="image/png"/>
  <Override PartName="/ppt/media/image19.png" ContentType="image/png"/>
  <Override PartName="/ppt/media/image84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80.png" ContentType="image/png"/>
  <Override PartName="/ppt/media/image6.png" ContentType="image/png"/>
  <Override PartName="/ppt/media/image38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4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6" r:id="rId10"/>
    <p:sldMasterId id="2147483667" r:id="rId11"/>
    <p:sldMasterId id="2147483668" r:id="rId12"/>
    <p:sldMasterId id="2147483669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move the slide</a:t>
            </a:r>
            <a:endParaRPr b="0" lang="de-D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38CF74-CB0E-4DF4-ABE5-C461CFC1D2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Foliennummernplatzhalter 5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01F7F2E-37B9-43A3-9814-6888FC012BF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Foliennummernplatzhalter 7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69C0405-0E0C-434B-A289-A4B9DB707A9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Foliennummernplatzhalter 8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948BE61-A208-410D-817A-D2856DBA9D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Foliennummernplatzhalter 1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16AD5FD-4F4B-4A90-8A8A-61C27FF0CB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Foliennummernplatzhalter 17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ABFF398-DF3A-4FFC-8EC7-E643EE48B89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Foliennummernplatzhalter 18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F577470-6659-4366-BE94-ADA71C2B2E0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Foliennummernplatzhalter 25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9074E3A-E964-4712-9034-E99204DB60C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Foliennummernplatzhalter 28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E287907-AA31-4C58-BC55-81B82FC3249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Foliennummernplatzhalter 29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94D3718-84CD-43A6-B8CC-4371BD4CAD8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Foliennummernplatzhalter 2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F2B924B-FB97-442A-9F86-73FD99F5194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Foliennummernplatzhalter 21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C28C440-D5C8-45F6-88A3-869C5814AA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oliennummernplatzhalter 2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A80A2A7-3BBA-47CA-A8C2-A7995A5EC3D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Foliennummernplatzhalter 2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1305172-597E-4F81-81F2-818DD267CF8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Foliennummernplatzhalter 13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85039DD-ADDA-4874-8BFC-597F214B42E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Foliennummernplatzhalter 15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341FBCD-17F9-482A-BB9E-84F3797F52C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Foliennummernplatzhalter 1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97ABB48-AB2F-4C24-9B9E-079E168D19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Foliennummernplatzhalter 1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3786349-17CA-4FBC-88A3-DF93F91EDA6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Foliennummernplatzhalter 32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BC8805-5933-48C5-A038-5494BD35602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Foliennummernplatzhalter 30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BDD8ECC-D909-40B1-80DB-FFDD1F1E3B6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Foliennummernplatzhalter 3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BC68E97-4C60-4A06-BD9D-8617D67C432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37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oliennummernplatzhalter 31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363AD06-1563-4850-871D-8C3C0745B20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oliennummernplatzhalter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A8D2C58-A12F-4B99-BC04-1EC6300A5E8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5ADDFD-EE59-4943-9E59-AB4E17668E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1-title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5A8983-E2BA-49A5-8067-BA1E7F74AB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2-obj-Titel-und-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52B3C97-C456-42C5-B890-B9636173AF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3-secHead-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313C6AD-E03E-4C82-A4E0-48F50FF20C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4-twoObj-Zwei-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996F1FD-7524-46FD-B8BD-E9EC94FF3B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5-twoTxTwoObj-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2E6DCA0-B949-47BC-84EF-3DC1956076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6-titleOnly-Nur-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484A84A-2EA6-48F0-8043-A2DF0AE4FC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ster1-Layout7-blank-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1A083EB-EDEE-460B-9137-26F229C19B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7-blank-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F1828E2-D27C-4B22-8C08-AA8C08F14E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7-blank-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E86AFC8-B513-4540-A960-436CFB1AF8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EADAD0-5E03-4FB0-89DC-07D41A60D9A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60360" y="928800"/>
            <a:ext cx="7559640" cy="197316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507545-BFE5-42DB-9418-F267E855BAA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BE494C-04A9-4BD5-ADDB-80CA89329F0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7240" y="1414440"/>
            <a:ext cx="8694720" cy="23572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7240" y="3794040"/>
            <a:ext cx="8694720" cy="12412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767676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C3D9CE-C3A6-4382-9446-FBA34E8223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503280" y="1327320"/>
            <a:ext cx="4459320" cy="32878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lnSpcReduction="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5114880" y="1327320"/>
            <a:ext cx="4460760" cy="32878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lnSpcReduction="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D9CA49-0399-48C3-A02B-3AF78554070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93720" y="301680"/>
            <a:ext cx="8694720" cy="10969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93720" y="1390680"/>
            <a:ext cx="4265640" cy="6811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title"/>
          </p:nvPr>
        </p:nvSpPr>
        <p:spPr>
          <a:xfrm>
            <a:off x="693720" y="2071800"/>
            <a:ext cx="4265640" cy="30463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5103720" y="1390680"/>
            <a:ext cx="4284720" cy="6811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spcBef>
                <a:spcPts val="1414"/>
              </a:spcBef>
            </a:pPr>
            <a:r>
              <a:rPr b="1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title"/>
          </p:nvPr>
        </p:nvSpPr>
        <p:spPr>
          <a:xfrm>
            <a:off x="5103720" y="2071800"/>
            <a:ext cx="4284720" cy="304632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070859-B4BF-45DF-9072-DF32A9F7A7E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1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5875F0-4395-49FD-BFCC-FDD5246263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0EFB57-C062-4FE0-9B7C-E387AA94948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93720" y="378000"/>
            <a:ext cx="3251160" cy="1324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4286160" y="816120"/>
            <a:ext cx="5102280" cy="403056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93720" y="1701720"/>
            <a:ext cx="3251160" cy="315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2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2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2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E6CBC6-2DB7-4695-A47E-A7B1B99C4A2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93720" y="378000"/>
            <a:ext cx="3251160" cy="1324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4286160" y="816120"/>
            <a:ext cx="5102280" cy="403056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93720" y="1701720"/>
            <a:ext cx="3251160" cy="315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28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29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0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26997B-1B93-4496-B140-DC82272ABA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vert="eaVer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3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3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73D8C9-E3DE-4BCC-833C-D6E2F1692CB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08720" y="225360"/>
            <a:ext cx="2266920" cy="43894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Mastertitelformat bearbeiten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3280" y="225360"/>
            <a:ext cx="6653160" cy="43894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vert="eaVer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Mastertextformat bearbeiten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3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3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Autofit/>
          </a:bodyPr>
          <a:p>
            <a:pPr indent="0"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06073D-8964-43B7-BFAE-7A64FE709DB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28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28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28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28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image" Target="../media/image79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28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image" Target="../media/image9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94.png"/><Relationship Id="rId2" Type="http://schemas.openxmlformats.org/officeDocument/2006/relationships/image" Target="../media/image9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image" Target="../media/image9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98.png"/><Relationship Id="rId2" Type="http://schemas.openxmlformats.org/officeDocument/2006/relationships/image" Target="../media/image99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image" Target="../media/image100.png"/><Relationship Id="rId3" Type="http://schemas.openxmlformats.org/officeDocument/2006/relationships/image" Target="../media/image7.png"/><Relationship Id="rId4" Type="http://schemas.openxmlformats.org/officeDocument/2006/relationships/image" Target="../media/image101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Grid-based models applied to dimers of benzene derivatives: Force-Field and DFT calculations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Structure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00000" y="1172520"/>
            <a:ext cx="4680000" cy="35334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marL="432000" indent="0"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Theory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GOAT  &amp; ORCA results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Different grids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3.1. Benzene (bnz)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3.2 Hexafluorobenzene (hfb)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3.3 Bnz + Hfb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Conclusion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 Outlook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4DB41A0C-7A64-4DF0-9B00-29E129FCFFAF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8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068000" y="1172520"/>
            <a:ext cx="6300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Global Optimizer AlgoriThm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Local minimum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Uphill push (small random displacement)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Local optimization (downhill)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Reject if known or higher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In-/decrease E_kin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Repeat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several „workers“ parallel → efficient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Found conformers are new starting points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92000" y="360000"/>
            <a:ext cx="2520000" cy="43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 txBox="1"/>
          <p:nvPr/>
        </p:nvSpPr>
        <p:spPr>
          <a:xfrm rot="21598200">
            <a:off x="0" y="4759920"/>
            <a:ext cx="378036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https://www.faccts.de/docs/orca/6.0/manual/contents/typical/GOAT.html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121080" y="515376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64D1662B-7A35-45A5-9C04-B96859239B81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140000" y="4617720"/>
            <a:ext cx="37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No guarantee for global minimum!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22200" y="5385960"/>
            <a:ext cx="36378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B. de Souza,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Angew. Chem. Int. Ed.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64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e202500393. 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MolGri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121080" y="515376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1B6C12C9-6F24-4BF1-B368-A75456D9595A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370960" y="5347440"/>
            <a:ext cx="518904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H. Zupan, B. G. Keller,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Journal of Chemical Theory and Computation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2025,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614-628.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680000" y="4140000"/>
            <a:ext cx="5220000" cy="103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energy is calculated once 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DFT possible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Whole configurational space is explored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180000" y="529200"/>
            <a:ext cx="3963600" cy="451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4500000" y="1573200"/>
            <a:ext cx="1807200" cy="177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6649200" y="273600"/>
            <a:ext cx="2890800" cy="36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6480000" y="576000"/>
            <a:ext cx="360000" cy="12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020000" y="273600"/>
            <a:ext cx="360000" cy="888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452000" y="136800"/>
            <a:ext cx="2160000" cy="1335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320000" y="1440000"/>
            <a:ext cx="360000" cy="22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-6192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SQRA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714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Fokker-Planck equation: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Square Root Approximation: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121080" y="515376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48B9261E-954E-47C0-9EBD-4D4729B2C62F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080000" y="3888000"/>
            <a:ext cx="3600000" cy="8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900000" y="1584000"/>
            <a:ext cx="5400000" cy="10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3"/>
          <a:stretch/>
        </p:blipFill>
        <p:spPr>
          <a:xfrm>
            <a:off x="6786000" y="1656000"/>
            <a:ext cx="2520000" cy="33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 txBox="1"/>
          <p:nvPr/>
        </p:nvSpPr>
        <p:spPr>
          <a:xfrm>
            <a:off x="828000" y="1125720"/>
            <a:ext cx="14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probability density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188000" y="1764000"/>
            <a:ext cx="720000" cy="360000"/>
          </a:xfrm>
          <a:prstGeom prst="rect">
            <a:avLst/>
          </a:prstGeom>
          <a:noFill/>
          <a:ln w="1260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4"/>
          <a:stretch/>
        </p:blipFill>
        <p:spPr>
          <a:xfrm>
            <a:off x="6336000" y="1188000"/>
            <a:ext cx="3420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2772000" y="1728000"/>
            <a:ext cx="900000" cy="360000"/>
          </a:xfrm>
          <a:prstGeom prst="rect">
            <a:avLst/>
          </a:prstGeom>
          <a:noFill/>
          <a:ln w="12600">
            <a:solidFill>
              <a:srgbClr val="1e6a3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336000" y="1152000"/>
            <a:ext cx="3420000" cy="378000"/>
          </a:xfrm>
          <a:prstGeom prst="rect">
            <a:avLst/>
          </a:prstGeom>
          <a:noFill/>
          <a:ln w="12600">
            <a:solidFill>
              <a:srgbClr val="1584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520000" y="14040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1e6a39"/>
                </a:solidFill>
                <a:effectLst/>
                <a:uFillTx/>
                <a:latin typeface="Arial"/>
              </a:rPr>
              <a:t>drift vector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786000" y="1584000"/>
            <a:ext cx="2520000" cy="406800"/>
          </a:xfrm>
          <a:prstGeom prst="rect">
            <a:avLst/>
          </a:prstGeom>
          <a:noFill/>
          <a:ln w="12600">
            <a:solidFill>
              <a:srgbClr val="c921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860000" y="1717200"/>
            <a:ext cx="216000" cy="370800"/>
          </a:xfrm>
          <a:prstGeom prst="rect">
            <a:avLst/>
          </a:prstGeom>
          <a:noFill/>
          <a:ln w="12600">
            <a:solidFill>
              <a:srgbClr val="c921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888000" y="1404000"/>
            <a:ext cx="23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diffusion constant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5"/>
          <a:stretch/>
        </p:blipFill>
        <p:spPr>
          <a:xfrm>
            <a:off x="7380000" y="738000"/>
            <a:ext cx="144000" cy="30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 txBox="1"/>
          <p:nvPr/>
        </p:nvSpPr>
        <p:spPr>
          <a:xfrm>
            <a:off x="7452000" y="738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 friction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232000" y="2214000"/>
            <a:ext cx="216000" cy="370800"/>
          </a:xfrm>
          <a:prstGeom prst="rect">
            <a:avLst/>
          </a:prstGeom>
          <a:noFill/>
          <a:ln w="12600">
            <a:solidFill>
              <a:srgbClr val="2a60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080000" y="2520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Fokker-Planck operator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6"/>
          <a:stretch/>
        </p:blipFill>
        <p:spPr>
          <a:xfrm>
            <a:off x="6966000" y="3153600"/>
            <a:ext cx="21600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6786000" y="3096000"/>
            <a:ext cx="2520000" cy="540000"/>
          </a:xfrm>
          <a:prstGeom prst="rect">
            <a:avLst/>
          </a:prstGeom>
          <a:noFill/>
          <a:ln w="12600">
            <a:solidFill>
              <a:srgbClr val="ff8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2556000" y="3960000"/>
            <a:ext cx="360000" cy="360000"/>
          </a:xfrm>
          <a:prstGeom prst="rect">
            <a:avLst/>
          </a:prstGeom>
          <a:noFill/>
          <a:ln w="12600">
            <a:solidFill>
              <a:srgbClr val="ff8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980000" y="36000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volatility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044000" y="4176000"/>
            <a:ext cx="1224000" cy="370800"/>
          </a:xfrm>
          <a:prstGeom prst="rect">
            <a:avLst/>
          </a:prstGeom>
          <a:noFill/>
          <a:ln w="12600">
            <a:solidFill>
              <a:srgbClr val="2332d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28000" y="385200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2332de"/>
                </a:solidFill>
                <a:effectLst/>
                <a:uFillTx/>
                <a:latin typeface="Arial"/>
              </a:rPr>
              <a:t>rate matrix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2916000" y="4377600"/>
            <a:ext cx="360000" cy="370800"/>
          </a:xfrm>
          <a:prstGeom prst="rect">
            <a:avLst/>
          </a:prstGeom>
          <a:noFill/>
          <a:ln w="12600">
            <a:solidFill>
              <a:srgbClr val="7b3d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088000" y="47160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7b3d00"/>
                </a:solidFill>
                <a:effectLst/>
                <a:uFillTx/>
                <a:latin typeface="Arial"/>
              </a:rPr>
              <a:t>distance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240000" y="3924000"/>
            <a:ext cx="540000" cy="370800"/>
          </a:xfrm>
          <a:prstGeom prst="rect">
            <a:avLst/>
          </a:prstGeom>
          <a:noFill/>
          <a:ln w="12600">
            <a:solidFill>
              <a:srgbClr val="3faf4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880000" y="36000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surface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348000" y="4377600"/>
            <a:ext cx="360000" cy="370800"/>
          </a:xfrm>
          <a:prstGeom prst="rect">
            <a:avLst/>
          </a:prstGeom>
          <a:noFill/>
          <a:ln w="12600">
            <a:solidFill>
              <a:srgbClr val="de13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024000" y="47160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de13bb"/>
                </a:solidFill>
                <a:effectLst/>
                <a:uFillTx/>
                <a:latin typeface="Arial"/>
              </a:rPr>
              <a:t>volume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7"/>
          <a:stretch/>
        </p:blipFill>
        <p:spPr>
          <a:xfrm>
            <a:off x="6498000" y="3726000"/>
            <a:ext cx="3096000" cy="77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8"/>
          <a:stretch/>
        </p:blipFill>
        <p:spPr>
          <a:xfrm>
            <a:off x="6570000" y="4536000"/>
            <a:ext cx="2952000" cy="59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3924000" y="3960000"/>
            <a:ext cx="720000" cy="370800"/>
          </a:xfrm>
          <a:prstGeom prst="rect">
            <a:avLst/>
          </a:prstGeom>
          <a:noFill/>
          <a:ln w="12600">
            <a:solidFill>
              <a:srgbClr val="0dac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500000" y="3780000"/>
            <a:ext cx="14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dacc8"/>
                </a:solidFill>
                <a:effectLst/>
                <a:uFillTx/>
                <a:latin typeface="Arial"/>
              </a:rPr>
              <a:t>stationary density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408000" y="3690000"/>
            <a:ext cx="3276000" cy="810000"/>
          </a:xfrm>
          <a:prstGeom prst="rect">
            <a:avLst/>
          </a:prstGeom>
          <a:noFill/>
          <a:ln w="12600">
            <a:solidFill>
              <a:srgbClr val="0dac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176000" y="464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partition function: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2370960" y="5347440"/>
            <a:ext cx="518904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H. Zupan, B. G. Keller,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Journal of Chemical Theory and Computation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2025,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614-628.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9"/>
          <a:stretch/>
        </p:blipFill>
        <p:spPr>
          <a:xfrm>
            <a:off x="4752000" y="2138400"/>
            <a:ext cx="1555200" cy="156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Benzene dimer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"/>
          <p:cNvGraphicFramePr/>
          <p:nvPr/>
        </p:nvGraphicFramePr>
        <p:xfrm>
          <a:off x="1440000" y="3900600"/>
          <a:ext cx="8206920" cy="1276560"/>
        </p:xfrm>
        <a:graphic>
          <a:graphicData uri="http://schemas.openxmlformats.org/drawingml/2006/table">
            <a:tbl>
              <a:tblPr/>
              <a:tblGrid>
                <a:gridCol w="3197520"/>
                <a:gridCol w="1643040"/>
                <a:gridCol w="1814400"/>
                <a:gridCol w="1551960"/>
              </a:tblGrid>
              <a:tr h="3502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sandwich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parallel displaced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t-shaped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CCSD(T)/aug-cc-pVDZ*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3.8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CCSD(T)/aug-cc-pVQZ* (est.)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3.9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9" name="" descr=""/>
          <p:cNvPicPr/>
          <p:nvPr/>
        </p:nvPicPr>
        <p:blipFill>
          <a:blip r:embed="rId1"/>
          <a:srcRect l="0" t="2093" r="0" b="7634"/>
          <a:stretch/>
        </p:blipFill>
        <p:spPr>
          <a:xfrm>
            <a:off x="4680000" y="1182600"/>
            <a:ext cx="4860000" cy="271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"/>
          <p:cNvSpPr txBox="1"/>
          <p:nvPr/>
        </p:nvSpPr>
        <p:spPr>
          <a:xfrm>
            <a:off x="5618160" y="5328000"/>
            <a:ext cx="338184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Q. Cheng, P. Xing,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Nanoscale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16056-16070.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121440" y="515412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6398711F-D4B6-4086-A1A6-417DEF24E448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40000" y="1260000"/>
            <a:ext cx="378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Parallel displaced and 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t-shaped both very low in energy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computational study for dimer of two hexafluorobenzenes, but neutron diffration studies:  t-shaped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60000" y="5385960"/>
            <a:ext cx="464976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 M. Steed, T. A. Dixon, W. Klemperer,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 Chem. Phys.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1979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70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4940–4946.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13356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Benzene &amp; Hexafluorobenzene dimer</a:t>
            </a:r>
            <a:endParaRPr b="0" lang="de-DE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"/>
          <p:cNvGraphicFramePr/>
          <p:nvPr/>
        </p:nvGraphicFramePr>
        <p:xfrm>
          <a:off x="1440000" y="3474000"/>
          <a:ext cx="8642520" cy="1749600"/>
        </p:xfrm>
        <a:graphic>
          <a:graphicData uri="http://schemas.openxmlformats.org/drawingml/2006/table">
            <a:tbl>
              <a:tblPr/>
              <a:tblGrid>
                <a:gridCol w="3066480"/>
                <a:gridCol w="1315440"/>
                <a:gridCol w="1167120"/>
                <a:gridCol w="1172520"/>
                <a:gridCol w="1428840"/>
              </a:tblGrid>
              <a:tr h="819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sandwich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t-shaped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t-shaped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1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parallel displaced</a:t>
                      </a:r>
                      <a:endParaRPr b="1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MP2/aug-cc-pVTZ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1.8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21.3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26.4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CCSD(T)/aug(d)-6-311G* (est.)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1.3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15.2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18.8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 algn="ctr">
                        <a:buNone/>
                      </a:pPr>
                      <a:r>
                        <a:rPr b="0" lang="de-DE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</a:t>
                      </a:r>
                      <a:endParaRPr b="0" lang="de-DE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6" name=""/>
          <p:cNvSpPr txBox="1"/>
          <p:nvPr/>
        </p:nvSpPr>
        <p:spPr>
          <a:xfrm>
            <a:off x="5618160" y="5328000"/>
            <a:ext cx="338184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Q. Cheng, P. Xing,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Nanoscale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16056-16070.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121440" y="515412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3F73A2E4-3661-4087-822B-E73087264254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40000" y="2700000"/>
            <a:ext cx="3780000" cy="19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Parallel displaced and sandwich are preferred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rcRect l="0" t="0" r="0" b="9989"/>
          <a:stretch/>
        </p:blipFill>
        <p:spPr>
          <a:xfrm>
            <a:off x="4680000" y="1044000"/>
            <a:ext cx="4762080" cy="17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"/>
          <p:cNvSpPr txBox="1"/>
          <p:nvPr/>
        </p:nvSpPr>
        <p:spPr>
          <a:xfrm>
            <a:off x="4860000" y="2916000"/>
            <a:ext cx="46800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S. Tsuzuki, T. Uchimaru, M. Mikami,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J. Phys. Chem. A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2006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2027-2033.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60000" y="5367600"/>
            <a:ext cx="510948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K. Hiraoka, S. Mizuse, S. Yamabe, </a:t>
            </a:r>
            <a:r>
              <a:rPr b="0" i="1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 Phys. Chem.</a:t>
            </a:r>
            <a:r>
              <a:rPr b="0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1990</a:t>
            </a:r>
            <a:r>
              <a:rPr b="0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94</a:t>
            </a:r>
            <a:r>
              <a:rPr b="0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3689–3694.</a:t>
            </a:r>
            <a:endParaRPr b="0" lang="de-DE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2"/>
          <a:srcRect l="52409" t="25093" r="0" b="14882"/>
          <a:stretch/>
        </p:blipFill>
        <p:spPr>
          <a:xfrm>
            <a:off x="817200" y="1207440"/>
            <a:ext cx="2869200" cy="16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"/>
          <p:cNvSpPr txBox="1"/>
          <p:nvPr/>
        </p:nvSpPr>
        <p:spPr>
          <a:xfrm>
            <a:off x="900000" y="2827440"/>
            <a:ext cx="285264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S. Mallick et al.,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iScience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2019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269-287.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5279760" y="540000"/>
            <a:ext cx="4440240" cy="47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 txBox="1"/>
          <p:nvPr/>
        </p:nvSpPr>
        <p:spPr>
          <a:xfrm>
            <a:off x="6120720" y="515340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14751559-473B-4907-8458-32541AAF65D7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288000" y="551880"/>
            <a:ext cx="4467960" cy="481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"/>
          <p:cNvSpPr txBox="1"/>
          <p:nvPr/>
        </p:nvSpPr>
        <p:spPr>
          <a:xfrm>
            <a:off x="540000" y="180000"/>
            <a:ext cx="41400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GOAT Results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400000" y="180000"/>
            <a:ext cx="41400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ORCA Results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40000" y="5364000"/>
            <a:ext cx="41400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XTB ALPB(benzene)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580000" y="5306400"/>
            <a:ext cx="41400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PBE0 D3 DEF2-TZVP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60000" y="2160000"/>
            <a:ext cx="4500000" cy="162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60000" y="3780000"/>
            <a:ext cx="4500000" cy="162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220000" y="3686400"/>
            <a:ext cx="4500000" cy="162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220000" y="2160000"/>
            <a:ext cx="4500000" cy="162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279760" y="180000"/>
            <a:ext cx="4500000" cy="180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213880" y="5292000"/>
            <a:ext cx="4500000" cy="270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enzene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C780E936-68B3-4451-8D49-72D534131F3F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980000" y="1440000"/>
            <a:ext cx="2880000" cy="31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2"/>
          <a:stretch/>
        </p:blipFill>
        <p:spPr>
          <a:xfrm>
            <a:off x="5760000" y="1800000"/>
            <a:ext cx="2520000" cy="26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 txBox="1"/>
          <p:nvPr/>
        </p:nvSpPr>
        <p:spPr>
          <a:xfrm>
            <a:off x="3223440" y="5347800"/>
            <a:ext cx="414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C. J. Pace, J. Gao, </a:t>
            </a:r>
            <a:r>
              <a:rPr b="0" i="1" lang="de-DE" sz="1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Acc. Chem. Res. </a:t>
            </a:r>
            <a:r>
              <a:rPr b="1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2013</a:t>
            </a:r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</a:t>
            </a:r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907-915.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" descr=""/>
          <p:cNvPicPr/>
          <p:nvPr/>
        </p:nvPicPr>
        <p:blipFill>
          <a:blip r:embed="rId1"/>
          <a:srcRect l="0" t="27064" r="12999" b="12617"/>
          <a:stretch/>
        </p:blipFill>
        <p:spPr>
          <a:xfrm>
            <a:off x="111600" y="180000"/>
            <a:ext cx="2876400" cy="24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2"/>
          <a:srcRect l="5179" t="11351" r="4526" b="13655"/>
          <a:stretch/>
        </p:blipFill>
        <p:spPr>
          <a:xfrm>
            <a:off x="7416000" y="79200"/>
            <a:ext cx="2520000" cy="240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cart_10_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3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3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3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feld 22"/>
          <p:cNvSpPr txBox="1"/>
          <p:nvPr/>
        </p:nvSpPr>
        <p:spPr>
          <a:xfrm>
            <a:off x="3200400" y="1172520"/>
            <a:ext cx="36576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 [-4,4,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[-4,4,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[3, 5,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 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270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1189D560-B9EA-4BC1-87D7-E5E1CFD4A4B2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120720" y="515340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F24906C2-919E-42EB-837F-023541063712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3"/>
          <a:stretch/>
        </p:blipFill>
        <p:spPr>
          <a:xfrm>
            <a:off x="5076000" y="3133800"/>
            <a:ext cx="1260000" cy="175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" descr=""/>
          <p:cNvPicPr/>
          <p:nvPr/>
        </p:nvPicPr>
        <p:blipFill>
          <a:blip r:embed="rId4"/>
          <a:stretch/>
        </p:blipFill>
        <p:spPr>
          <a:xfrm>
            <a:off x="6192000" y="3144600"/>
            <a:ext cx="1728000" cy="173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" descr=""/>
          <p:cNvPicPr/>
          <p:nvPr/>
        </p:nvPicPr>
        <p:blipFill>
          <a:blip r:embed="rId5"/>
          <a:stretch/>
        </p:blipFill>
        <p:spPr>
          <a:xfrm>
            <a:off x="1440000" y="3042000"/>
            <a:ext cx="1260000" cy="194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" descr=""/>
          <p:cNvPicPr/>
          <p:nvPr/>
        </p:nvPicPr>
        <p:blipFill>
          <a:blip r:embed="rId6"/>
          <a:stretch/>
        </p:blipFill>
        <p:spPr>
          <a:xfrm>
            <a:off x="36000" y="3133800"/>
            <a:ext cx="1260000" cy="17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feld 5"/>
          <p:cNvSpPr txBox="1"/>
          <p:nvPr/>
        </p:nvSpPr>
        <p:spPr>
          <a:xfrm>
            <a:off x="5896800" y="247788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feld 23"/>
          <p:cNvSpPr txBox="1"/>
          <p:nvPr/>
        </p:nvSpPr>
        <p:spPr>
          <a:xfrm>
            <a:off x="900000" y="2340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500000" y="137160"/>
            <a:ext cx="9000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de-DE" sz="22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rot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328000" y="137160"/>
            <a:ext cx="4320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22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x</a:t>
            </a:r>
            <a:endParaRPr b="0" lang="de-DE" sz="2200" strike="noStrike" u="non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940000" y="137160"/>
            <a:ext cx="4320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22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y</a:t>
            </a:r>
            <a:endParaRPr b="0" lang="de-DE" sz="2200" strike="noStrike" u="none">
              <a:solidFill>
                <a:srgbClr val="3faf46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588000" y="137160"/>
            <a:ext cx="4320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22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z</a:t>
            </a:r>
            <a:endParaRPr b="0" lang="de-DE" sz="2200" strike="noStrike" u="none">
              <a:solidFill>
                <a:srgbClr val="2140e4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7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t-shaped/pd</a:t>
            </a:r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7"/>
          <a:stretch/>
        </p:blipFill>
        <p:spPr>
          <a:xfrm>
            <a:off x="2592000" y="3207600"/>
            <a:ext cx="2268000" cy="160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8"/>
          <a:stretch/>
        </p:blipFill>
        <p:spPr>
          <a:xfrm>
            <a:off x="7920000" y="3220200"/>
            <a:ext cx="2124000" cy="15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9"/>
          <a:srcRect l="7858" t="77848" r="72346" b="7845"/>
          <a:stretch/>
        </p:blipFill>
        <p:spPr>
          <a:xfrm>
            <a:off x="180000" y="4890600"/>
            <a:ext cx="72000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"/>
          <p:cNvSpPr txBox="1"/>
          <p:nvPr/>
        </p:nvSpPr>
        <p:spPr>
          <a:xfrm>
            <a:off x="360000" y="2880000"/>
            <a:ext cx="5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800000" y="2880000"/>
            <a:ext cx="5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3456000" y="2880000"/>
            <a:ext cx="5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472000" y="2880000"/>
            <a:ext cx="5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056000" y="2952000"/>
            <a:ext cx="5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712000" y="2952000"/>
            <a:ext cx="5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8208000" y="2818800"/>
            <a:ext cx="1688400" cy="25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" descr=""/>
          <p:cNvPicPr/>
          <p:nvPr/>
        </p:nvPicPr>
        <p:blipFill>
          <a:blip r:embed="rId2"/>
          <a:srcRect l="0" t="14529" r="537" b="12458"/>
          <a:stretch/>
        </p:blipFill>
        <p:spPr>
          <a:xfrm>
            <a:off x="180000" y="100800"/>
            <a:ext cx="2880000" cy="263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3"/>
          <a:stretch/>
        </p:blipFill>
        <p:spPr>
          <a:xfrm>
            <a:off x="2880000" y="2664000"/>
            <a:ext cx="1908000" cy="280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4"/>
          <a:stretch/>
        </p:blipFill>
        <p:spPr>
          <a:xfrm>
            <a:off x="6480000" y="2804400"/>
            <a:ext cx="1620000" cy="259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620000" y="226080"/>
            <a:ext cx="7956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feld 10"/>
          <p:cNvSpPr txBox="1"/>
          <p:nvPr/>
        </p:nvSpPr>
        <p:spPr>
          <a:xfrm>
            <a:off x="6120000" y="21942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feld 12"/>
          <p:cNvSpPr txBox="1"/>
          <p:nvPr/>
        </p:nvSpPr>
        <p:spPr>
          <a:xfrm>
            <a:off x="3168000" y="108000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04970C8E-9BF0-453D-A992-1EA0ACF77B59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5"/>
          <a:stretch/>
        </p:blipFill>
        <p:spPr>
          <a:xfrm>
            <a:off x="5652000" y="3960000"/>
            <a:ext cx="8640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" descr=""/>
          <p:cNvPicPr/>
          <p:nvPr/>
        </p:nvPicPr>
        <p:blipFill>
          <a:blip r:embed="rId6"/>
          <a:stretch/>
        </p:blipFill>
        <p:spPr>
          <a:xfrm>
            <a:off x="684000" y="3996000"/>
            <a:ext cx="9360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7"/>
          <a:srcRect l="0" t="6139" r="0" b="0"/>
          <a:stretch/>
        </p:blipFill>
        <p:spPr>
          <a:xfrm>
            <a:off x="1872000" y="2793600"/>
            <a:ext cx="1080000" cy="275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feld 11"/>
          <p:cNvSpPr txBox="1"/>
          <p:nvPr/>
        </p:nvSpPr>
        <p:spPr>
          <a:xfrm>
            <a:off x="2476800" y="21078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852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t-shaped/pd</a:t>
            </a:r>
            <a:endParaRPr b="1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8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396000" y="1224000"/>
            <a:ext cx="9000000" cy="224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" descr=""/>
          <p:cNvPicPr/>
          <p:nvPr/>
        </p:nvPicPr>
        <p:blipFill>
          <a:blip r:embed="rId2"/>
          <a:stretch/>
        </p:blipFill>
        <p:spPr>
          <a:xfrm>
            <a:off x="396000" y="3420000"/>
            <a:ext cx="9000000" cy="22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feld 47"/>
          <p:cNvSpPr txBox="1"/>
          <p:nvPr/>
        </p:nvSpPr>
        <p:spPr>
          <a:xfrm>
            <a:off x="136800" y="9342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feld 48"/>
          <p:cNvSpPr txBox="1"/>
          <p:nvPr/>
        </p:nvSpPr>
        <p:spPr>
          <a:xfrm>
            <a:off x="2743200" y="107172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F6BA7809-75B9-4BA6-B4BF-6E24CDCF5CAB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feld 45"/>
          <p:cNvSpPr txBox="1"/>
          <p:nvPr/>
        </p:nvSpPr>
        <p:spPr>
          <a:xfrm>
            <a:off x="136800" y="35064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3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feld 49"/>
          <p:cNvSpPr txBox="1"/>
          <p:nvPr/>
        </p:nvSpPr>
        <p:spPr>
          <a:xfrm>
            <a:off x="6172200" y="1620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feld 50"/>
          <p:cNvSpPr txBox="1"/>
          <p:nvPr/>
        </p:nvSpPr>
        <p:spPr>
          <a:xfrm>
            <a:off x="1371600" y="1620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rcRect l="36087" t="14793" r="10660" b="10794"/>
          <a:stretch/>
        </p:blipFill>
        <p:spPr>
          <a:xfrm>
            <a:off x="5760000" y="1940400"/>
            <a:ext cx="3492000" cy="345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"/>
          <p:cNvSpPr txBox="1"/>
          <p:nvPr/>
        </p:nvSpPr>
        <p:spPr>
          <a:xfrm>
            <a:off x="6120720" y="515340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E8D2148F-1244-4450-8A8D-4B47564A464C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" descr=""/>
          <p:cNvPicPr/>
          <p:nvPr/>
        </p:nvPicPr>
        <p:blipFill>
          <a:blip r:embed="rId2"/>
          <a:srcRect l="27687" t="4208" r="7" b="0"/>
          <a:stretch/>
        </p:blipFill>
        <p:spPr>
          <a:xfrm>
            <a:off x="1260000" y="1915200"/>
            <a:ext cx="3600000" cy="348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feld 4"/>
          <p:cNvSpPr txBox="1"/>
          <p:nvPr/>
        </p:nvSpPr>
        <p:spPr>
          <a:xfrm>
            <a:off x="2743200" y="107208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itel 3"/>
          <p:cNvSpPr txBox="1"/>
          <p:nvPr/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6516000" y="3420000"/>
            <a:ext cx="1692000" cy="1648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260000" y="190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spherical_50_</a:t>
            </a:r>
            <a:r>
              <a:rPr b="0" lang="en-US" sz="4400" strike="noStrike" u="none">
                <a:solidFill>
                  <a:srgbClr val="ea7500"/>
                </a:solidFill>
                <a:effectLst/>
                <a:uFillTx/>
                <a:latin typeface="Arial"/>
              </a:rPr>
              <a:t>80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5983b0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feld 71"/>
          <p:cNvSpPr txBox="1"/>
          <p:nvPr/>
        </p:nvSpPr>
        <p:spPr>
          <a:xfrm>
            <a:off x="5976000" y="24462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feld 73"/>
          <p:cNvSpPr txBox="1"/>
          <p:nvPr/>
        </p:nvSpPr>
        <p:spPr>
          <a:xfrm>
            <a:off x="3499200" y="103500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50,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en-US" sz="2000" strike="noStrike" u="none">
                <a:solidFill>
                  <a:srgbClr val="ea7500"/>
                </a:solidFill>
                <a:effectLst/>
                <a:uFillTx/>
                <a:latin typeface="JetBrains Mono"/>
                <a:ea typeface="JetBrains Mono"/>
              </a:rPr>
              <a:t>80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[4, 6, </a:t>
            </a:r>
            <a:r>
              <a:rPr b="0" lang="en-US" sz="2000" strike="noStrike" u="none">
                <a:solidFill>
                  <a:srgbClr val="5983b0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44 000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D072C249-C208-4834-B80E-FAFC0B70E596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2"/>
          <a:stretch/>
        </p:blipFill>
        <p:spPr>
          <a:xfrm>
            <a:off x="1476000" y="3038400"/>
            <a:ext cx="1584000" cy="23616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253" name="" descr=""/>
          <p:cNvPicPr/>
          <p:nvPr/>
        </p:nvPicPr>
        <p:blipFill>
          <a:blip r:embed="rId3"/>
          <a:stretch/>
        </p:blipFill>
        <p:spPr>
          <a:xfrm>
            <a:off x="36000" y="3639600"/>
            <a:ext cx="1476000" cy="10404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254" name="" descr=""/>
          <p:cNvPicPr/>
          <p:nvPr/>
        </p:nvPicPr>
        <p:blipFill>
          <a:blip r:embed="rId4"/>
          <a:stretch/>
        </p:blipFill>
        <p:spPr>
          <a:xfrm>
            <a:off x="5220000" y="3960000"/>
            <a:ext cx="1332000" cy="7992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255" name="" descr=""/>
          <p:cNvPicPr/>
          <p:nvPr/>
        </p:nvPicPr>
        <p:blipFill>
          <a:blip r:embed="rId5"/>
          <a:srcRect l="0" t="17701" r="537" b="18807"/>
          <a:stretch/>
        </p:blipFill>
        <p:spPr>
          <a:xfrm>
            <a:off x="180000" y="144000"/>
            <a:ext cx="2664000" cy="228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" descr=""/>
          <p:cNvPicPr/>
          <p:nvPr/>
        </p:nvPicPr>
        <p:blipFill>
          <a:blip r:embed="rId6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feld 72"/>
          <p:cNvSpPr txBox="1"/>
          <p:nvPr/>
        </p:nvSpPr>
        <p:spPr>
          <a:xfrm>
            <a:off x="720000" y="2520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" descr=""/>
          <p:cNvPicPr/>
          <p:nvPr/>
        </p:nvPicPr>
        <p:blipFill>
          <a:blip r:embed="rId7"/>
          <a:stretch/>
        </p:blipFill>
        <p:spPr>
          <a:xfrm>
            <a:off x="3132000" y="3060000"/>
            <a:ext cx="1825200" cy="23976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259" name="" descr=""/>
          <p:cNvPicPr/>
          <p:nvPr/>
        </p:nvPicPr>
        <p:blipFill>
          <a:blip r:embed="rId8"/>
          <a:stretch/>
        </p:blipFill>
        <p:spPr>
          <a:xfrm>
            <a:off x="8194320" y="3060000"/>
            <a:ext cx="1850400" cy="21924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feld 80"/>
          <p:cNvSpPr txBox="1"/>
          <p:nvPr/>
        </p:nvSpPr>
        <p:spPr>
          <a:xfrm>
            <a:off x="6172200" y="137268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feld 81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AD57062B-E8C3-44AF-9407-B8F79429DEC5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360000" y="18936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2"/>
          <a:stretch/>
        </p:blipFill>
        <p:spPr>
          <a:xfrm>
            <a:off x="5040000" y="18936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itel 4"/>
          <p:cNvSpPr txBox="1"/>
          <p:nvPr/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spherical_50_</a:t>
            </a:r>
            <a:r>
              <a:rPr b="0" lang="en-US" sz="4400" strike="noStrike" u="none">
                <a:solidFill>
                  <a:srgbClr val="ea7500"/>
                </a:solidFill>
                <a:effectLst/>
                <a:uFillTx/>
                <a:latin typeface="Arial"/>
              </a:rPr>
              <a:t>80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5983b0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feld 6"/>
          <p:cNvSpPr txBox="1"/>
          <p:nvPr/>
        </p:nvSpPr>
        <p:spPr>
          <a:xfrm>
            <a:off x="2743200" y="107136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50,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en-US" sz="2000" strike="noStrike" u="none">
                <a:solidFill>
                  <a:srgbClr val="ea7500"/>
                </a:solidFill>
                <a:effectLst/>
                <a:uFillTx/>
                <a:latin typeface="JetBrains Mono"/>
                <a:ea typeface="JetBrains Mono"/>
              </a:rPr>
              <a:t>80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[4, 6, </a:t>
            </a:r>
            <a:r>
              <a:rPr b="0" lang="en-US" sz="2000" strike="noStrike" u="none">
                <a:solidFill>
                  <a:srgbClr val="5983b0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44 000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432000" y="3420000"/>
            <a:ext cx="9108000" cy="203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360000" cy="178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spherical_50_</a:t>
            </a:r>
            <a:r>
              <a:rPr b="0" lang="en-US" sz="4400" strike="noStrike" u="none">
                <a:solidFill>
                  <a:srgbClr val="ea7500"/>
                </a:solidFill>
                <a:effectLst/>
                <a:uFillTx/>
                <a:latin typeface="Arial"/>
              </a:rPr>
              <a:t>80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5983b0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feld 83"/>
          <p:cNvSpPr txBox="1"/>
          <p:nvPr/>
        </p:nvSpPr>
        <p:spPr>
          <a:xfrm>
            <a:off x="1396800" y="3240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feld 84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66796C4D-186A-4405-BDD9-DA1392F1A842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feld 7"/>
          <p:cNvSpPr txBox="1"/>
          <p:nvPr/>
        </p:nvSpPr>
        <p:spPr>
          <a:xfrm>
            <a:off x="2743200" y="107136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50,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en-US" sz="2000" strike="noStrike" u="none">
                <a:solidFill>
                  <a:srgbClr val="ea7500"/>
                </a:solidFill>
                <a:effectLst/>
                <a:uFillTx/>
                <a:latin typeface="JetBrains Mono"/>
                <a:ea typeface="JetBrains Mono"/>
              </a:rPr>
              <a:t>80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[4, 6, </a:t>
            </a:r>
            <a:r>
              <a:rPr b="0" lang="en-US" sz="2000" strike="noStrike" u="none">
                <a:solidFill>
                  <a:srgbClr val="5983b0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44 000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3"/>
          <a:srcRect l="11813" t="71504" r="68392" b="15794"/>
          <a:stretch/>
        </p:blipFill>
        <p:spPr>
          <a:xfrm>
            <a:off x="9036360" y="144000"/>
            <a:ext cx="828000" cy="64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feld 74"/>
          <p:cNvSpPr txBox="1"/>
          <p:nvPr/>
        </p:nvSpPr>
        <p:spPr>
          <a:xfrm>
            <a:off x="6172200" y="137268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feld 75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9F11F8F6-2F05-472A-B044-CFAA24FB8688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rcRect l="35839" t="15050" r="9476" b="15113"/>
          <a:stretch/>
        </p:blipFill>
        <p:spPr>
          <a:xfrm>
            <a:off x="5724000" y="1980000"/>
            <a:ext cx="3420000" cy="31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" descr=""/>
          <p:cNvPicPr/>
          <p:nvPr/>
        </p:nvPicPr>
        <p:blipFill>
          <a:blip r:embed="rId2"/>
          <a:srcRect l="26917" t="0" r="0" b="0"/>
          <a:stretch/>
        </p:blipFill>
        <p:spPr>
          <a:xfrm>
            <a:off x="936000" y="1828800"/>
            <a:ext cx="3420000" cy="339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feld 8"/>
          <p:cNvSpPr txBox="1"/>
          <p:nvPr/>
        </p:nvSpPr>
        <p:spPr>
          <a:xfrm>
            <a:off x="2743200" y="107136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50,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en-US" sz="2000" strike="noStrike" u="none">
                <a:solidFill>
                  <a:srgbClr val="ea7500"/>
                </a:solidFill>
                <a:effectLst/>
                <a:uFillTx/>
                <a:latin typeface="JetBrains Mono"/>
                <a:ea typeface="JetBrains Mono"/>
              </a:rPr>
              <a:t>80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[4, 6, </a:t>
            </a:r>
            <a:r>
              <a:rPr b="0" lang="en-US" sz="2000" strike="noStrike" u="none">
                <a:solidFill>
                  <a:srgbClr val="5983b0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44 000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spherical_50_</a:t>
            </a:r>
            <a:r>
              <a:rPr b="0" lang="en-US" sz="4400" strike="noStrike" u="none">
                <a:solidFill>
                  <a:srgbClr val="ea7500"/>
                </a:solidFill>
                <a:effectLst/>
                <a:uFillTx/>
                <a:latin typeface="Arial"/>
              </a:rPr>
              <a:t>80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5983b0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Hexafluorobenzene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E47F10DC-7721-4951-8E7E-0FA97E0309F6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" descr=""/>
          <p:cNvPicPr/>
          <p:nvPr/>
        </p:nvPicPr>
        <p:blipFill>
          <a:blip r:embed="rId1"/>
          <a:stretch/>
        </p:blipFill>
        <p:spPr>
          <a:xfrm>
            <a:off x="1980000" y="1440000"/>
            <a:ext cx="2880000" cy="331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" descr=""/>
          <p:cNvPicPr/>
          <p:nvPr/>
        </p:nvPicPr>
        <p:blipFill>
          <a:blip r:embed="rId2"/>
          <a:stretch/>
        </p:blipFill>
        <p:spPr>
          <a:xfrm>
            <a:off x="5706360" y="1800000"/>
            <a:ext cx="2520000" cy="27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"/>
          <p:cNvSpPr txBox="1"/>
          <p:nvPr/>
        </p:nvSpPr>
        <p:spPr>
          <a:xfrm>
            <a:off x="3223440" y="5347440"/>
            <a:ext cx="414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C. J. Pace, J. Gao, </a:t>
            </a:r>
            <a:r>
              <a:rPr b="0" i="1" lang="de-DE" sz="1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Acc. Chem. Res. </a:t>
            </a:r>
            <a:r>
              <a:rPr b="1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2013</a:t>
            </a:r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</a:t>
            </a:r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907-915.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" descr=""/>
          <p:cNvPicPr/>
          <p:nvPr/>
        </p:nvPicPr>
        <p:blipFill>
          <a:blip r:embed="rId1"/>
          <a:srcRect l="7101" t="23896" r="5836" b="11407"/>
          <a:stretch/>
        </p:blipFill>
        <p:spPr>
          <a:xfrm>
            <a:off x="432000" y="144000"/>
            <a:ext cx="2880000" cy="266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008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feld 59"/>
          <p:cNvSpPr txBox="1"/>
          <p:nvPr/>
        </p:nvSpPr>
        <p:spPr>
          <a:xfrm>
            <a:off x="1620000" y="29142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feld 60"/>
          <p:cNvSpPr txBox="1"/>
          <p:nvPr/>
        </p:nvSpPr>
        <p:spPr>
          <a:xfrm>
            <a:off x="3247200" y="1071720"/>
            <a:ext cx="4572000" cy="67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7], [-9, 9, 7], [-9, 9, 11]]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AACB47B0-6FBF-4004-B1CD-BA77E5939EC4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" descr=""/>
          <p:cNvPicPr/>
          <p:nvPr/>
        </p:nvPicPr>
        <p:blipFill>
          <a:blip r:embed="rId2"/>
          <a:stretch/>
        </p:blipFill>
        <p:spPr>
          <a:xfrm>
            <a:off x="5400000" y="3240000"/>
            <a:ext cx="1476000" cy="15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" descr=""/>
          <p:cNvPicPr/>
          <p:nvPr/>
        </p:nvPicPr>
        <p:blipFill>
          <a:blip r:embed="rId3"/>
          <a:stretch/>
        </p:blipFill>
        <p:spPr>
          <a:xfrm>
            <a:off x="1188000" y="3517200"/>
            <a:ext cx="1764000" cy="15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" descr=""/>
          <p:cNvPicPr/>
          <p:nvPr/>
        </p:nvPicPr>
        <p:blipFill>
          <a:blip r:embed="rId4"/>
          <a:stretch/>
        </p:blipFill>
        <p:spPr>
          <a:xfrm>
            <a:off x="108000" y="4104000"/>
            <a:ext cx="1116000" cy="95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feld 58"/>
          <p:cNvSpPr txBox="1"/>
          <p:nvPr/>
        </p:nvSpPr>
        <p:spPr>
          <a:xfrm>
            <a:off x="6616800" y="29142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5"/>
          <a:stretch/>
        </p:blipFill>
        <p:spPr>
          <a:xfrm>
            <a:off x="8280000" y="3686400"/>
            <a:ext cx="1620000" cy="124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" descr=""/>
          <p:cNvPicPr/>
          <p:nvPr/>
        </p:nvPicPr>
        <p:blipFill>
          <a:blip r:embed="rId6"/>
          <a:stretch/>
        </p:blipFill>
        <p:spPr>
          <a:xfrm>
            <a:off x="3204000" y="3481200"/>
            <a:ext cx="1980000" cy="15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" descr=""/>
          <p:cNvPicPr/>
          <p:nvPr/>
        </p:nvPicPr>
        <p:blipFill>
          <a:blip r:embed="rId7"/>
          <a:stretch/>
        </p:blipFill>
        <p:spPr>
          <a:xfrm>
            <a:off x="6696000" y="3326400"/>
            <a:ext cx="1584000" cy="187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" descr=""/>
          <p:cNvPicPr/>
          <p:nvPr/>
        </p:nvPicPr>
        <p:blipFill>
          <a:blip r:embed="rId8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" descr=""/>
          <p:cNvPicPr/>
          <p:nvPr/>
        </p:nvPicPr>
        <p:blipFill>
          <a:blip r:embed="rId1"/>
          <a:stretch/>
        </p:blipFill>
        <p:spPr>
          <a:xfrm>
            <a:off x="1067040" y="1251720"/>
            <a:ext cx="7920000" cy="20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2"/>
          <a:stretch/>
        </p:blipFill>
        <p:spPr>
          <a:xfrm>
            <a:off x="900000" y="3321720"/>
            <a:ext cx="7920000" cy="22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04000" y="10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feld 67"/>
          <p:cNvSpPr txBox="1"/>
          <p:nvPr/>
        </p:nvSpPr>
        <p:spPr>
          <a:xfrm>
            <a:off x="1324800" y="3420000"/>
            <a:ext cx="27432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feld 68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996DDBAC-E5E3-4952-91C0-9F97D96F7FB0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feld 9"/>
          <p:cNvSpPr txBox="1"/>
          <p:nvPr/>
        </p:nvSpPr>
        <p:spPr>
          <a:xfrm>
            <a:off x="2743200" y="85644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3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1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feld 1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feld 2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E9E7A562-BAB7-4EF7-A838-5CC475E82663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tretch/>
        </p:blipFill>
        <p:spPr>
          <a:xfrm>
            <a:off x="900000" y="1800000"/>
            <a:ext cx="3600000" cy="343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" descr=""/>
          <p:cNvPicPr/>
          <p:nvPr/>
        </p:nvPicPr>
        <p:blipFill>
          <a:blip r:embed="rId2"/>
          <a:stretch/>
        </p:blipFill>
        <p:spPr>
          <a:xfrm>
            <a:off x="5760000" y="1748880"/>
            <a:ext cx="3600000" cy="352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feld 3"/>
          <p:cNvSpPr txBox="1"/>
          <p:nvPr/>
        </p:nvSpPr>
        <p:spPr>
          <a:xfrm>
            <a:off x="2743200" y="107244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enzene + Hexafluorobenzene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120360" y="5153040"/>
            <a:ext cx="382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364B66F1-0D8B-4AE2-9B1F-8D0649E2FE4E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2700000" y="1172520"/>
            <a:ext cx="4680000" cy="383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"/>
          <p:cNvSpPr txBox="1"/>
          <p:nvPr/>
        </p:nvSpPr>
        <p:spPr>
          <a:xfrm>
            <a:off x="3223440" y="5347800"/>
            <a:ext cx="414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C. J. Pace, J. Gao, </a:t>
            </a:r>
            <a:r>
              <a:rPr b="0" i="1" lang="de-DE" sz="1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Acc. Chem. Res. </a:t>
            </a:r>
            <a:r>
              <a:rPr b="1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2013</a:t>
            </a:r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</a:t>
            </a:r>
            <a:r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907-915.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cart_100_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100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feld 35"/>
          <p:cNvSpPr txBox="1"/>
          <p:nvPr/>
        </p:nvSpPr>
        <p:spPr>
          <a:xfrm>
            <a:off x="6256800" y="3132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feld 36"/>
          <p:cNvSpPr txBox="1"/>
          <p:nvPr/>
        </p:nvSpPr>
        <p:spPr>
          <a:xfrm>
            <a:off x="1260000" y="30942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feld 37"/>
          <p:cNvSpPr txBox="1"/>
          <p:nvPr/>
        </p:nvSpPr>
        <p:spPr>
          <a:xfrm>
            <a:off x="2743200" y="107172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 [0,0,</a:t>
            </a:r>
            <a:r>
              <a:rPr b="0" lang="en-US" sz="2000" strike="noStrike" u="none">
                <a:solidFill>
                  <a:srgbClr val="d62e4e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[0,0,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[2, 12,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 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10 000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120360" y="5153040"/>
            <a:ext cx="382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374B3165-8D8D-46E1-B5C3-9EB0ADF41393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1"/>
          <a:stretch/>
        </p:blipFill>
        <p:spPr>
          <a:xfrm>
            <a:off x="5400000" y="3596400"/>
            <a:ext cx="1440000" cy="119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" descr=""/>
          <p:cNvPicPr/>
          <p:nvPr/>
        </p:nvPicPr>
        <p:blipFill>
          <a:blip r:embed="rId2"/>
          <a:stretch/>
        </p:blipFill>
        <p:spPr>
          <a:xfrm>
            <a:off x="6984000" y="3510000"/>
            <a:ext cx="1440000" cy="135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" descr=""/>
          <p:cNvPicPr/>
          <p:nvPr/>
        </p:nvPicPr>
        <p:blipFill>
          <a:blip r:embed="rId3"/>
          <a:stretch/>
        </p:blipFill>
        <p:spPr>
          <a:xfrm>
            <a:off x="1656000" y="3600000"/>
            <a:ext cx="1440000" cy="122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" descr=""/>
          <p:cNvPicPr/>
          <p:nvPr/>
        </p:nvPicPr>
        <p:blipFill>
          <a:blip r:embed="rId4"/>
          <a:stretch/>
        </p:blipFill>
        <p:spPr>
          <a:xfrm>
            <a:off x="72000" y="3632400"/>
            <a:ext cx="1440000" cy="120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" descr=""/>
          <p:cNvPicPr/>
          <p:nvPr/>
        </p:nvPicPr>
        <p:blipFill>
          <a:blip r:embed="rId5"/>
          <a:srcRect l="26885" t="6059" r="25620" b="5058"/>
          <a:stretch/>
        </p:blipFill>
        <p:spPr>
          <a:xfrm>
            <a:off x="8064000" y="144000"/>
            <a:ext cx="1440000" cy="335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" descr=""/>
          <p:cNvPicPr/>
          <p:nvPr/>
        </p:nvPicPr>
        <p:blipFill>
          <a:blip r:embed="rId6"/>
          <a:srcRect l="18976" t="6059" r="17705" b="8230"/>
          <a:stretch/>
        </p:blipFill>
        <p:spPr>
          <a:xfrm>
            <a:off x="684000" y="226800"/>
            <a:ext cx="1512000" cy="254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" descr=""/>
          <p:cNvPicPr/>
          <p:nvPr/>
        </p:nvPicPr>
        <p:blipFill>
          <a:blip r:embed="rId7"/>
          <a:srcRect l="7858" t="77848" r="72346" b="7845"/>
          <a:stretch/>
        </p:blipFill>
        <p:spPr>
          <a:xfrm>
            <a:off x="180000" y="4932000"/>
            <a:ext cx="720000" cy="64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" descr=""/>
          <p:cNvPicPr/>
          <p:nvPr/>
        </p:nvPicPr>
        <p:blipFill>
          <a:blip r:embed="rId8"/>
          <a:stretch/>
        </p:blipFill>
        <p:spPr>
          <a:xfrm>
            <a:off x="8496000" y="3614400"/>
            <a:ext cx="1440000" cy="124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" descr=""/>
          <p:cNvPicPr/>
          <p:nvPr/>
        </p:nvPicPr>
        <p:blipFill>
          <a:blip r:embed="rId9"/>
          <a:stretch/>
        </p:blipFill>
        <p:spPr>
          <a:xfrm>
            <a:off x="3312000" y="3564000"/>
            <a:ext cx="1440000" cy="132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360000" y="18000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2"/>
          <a:stretch/>
        </p:blipFill>
        <p:spPr>
          <a:xfrm>
            <a:off x="5148000" y="18000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cart_100_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100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feld 41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feld 42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feld 43"/>
          <p:cNvSpPr txBox="1"/>
          <p:nvPr/>
        </p:nvSpPr>
        <p:spPr>
          <a:xfrm>
            <a:off x="2743200" y="107172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 [0,0,</a:t>
            </a:r>
            <a:r>
              <a:rPr b="0" lang="en-US" sz="2000" strike="noStrike" u="none">
                <a:solidFill>
                  <a:srgbClr val="d62e4e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[0,0,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[2, 12,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 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10 000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120360" y="5153040"/>
            <a:ext cx="382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182B5FFC-5CD9-450A-9F15-DE44EC25B310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cart_100_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100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feld 38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feld 39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feld 40"/>
          <p:cNvSpPr txBox="1"/>
          <p:nvPr/>
        </p:nvSpPr>
        <p:spPr>
          <a:xfrm>
            <a:off x="2743200" y="107172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 [0,0,</a:t>
            </a:r>
            <a:r>
              <a:rPr b="0" lang="en-US" sz="2000" strike="noStrike" u="none">
                <a:solidFill>
                  <a:srgbClr val="d62e4e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[0,0,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[2, 12,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 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10 000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5040000" y="18000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"/>
          <p:cNvSpPr txBox="1"/>
          <p:nvPr/>
        </p:nvSpPr>
        <p:spPr>
          <a:xfrm>
            <a:off x="6120360" y="5153040"/>
            <a:ext cx="382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3FA61F69-7C00-4C70-867B-6F751ED9ACC7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" descr=""/>
          <p:cNvPicPr/>
          <p:nvPr/>
        </p:nvPicPr>
        <p:blipFill>
          <a:blip r:embed="rId2"/>
          <a:stretch/>
        </p:blipFill>
        <p:spPr>
          <a:xfrm>
            <a:off x="324000" y="1800000"/>
            <a:ext cx="4680000" cy="350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448200" y="1505880"/>
            <a:ext cx="9000000" cy="19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" descr=""/>
          <p:cNvPicPr/>
          <p:nvPr/>
        </p:nvPicPr>
        <p:blipFill>
          <a:blip r:embed="rId2"/>
          <a:srcRect l="7145" t="14268" r="7145" b="14297"/>
          <a:stretch/>
        </p:blipFill>
        <p:spPr>
          <a:xfrm>
            <a:off x="396000" y="3744360"/>
            <a:ext cx="9180000" cy="19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cart_100_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1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100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feld 46"/>
          <p:cNvSpPr txBox="1"/>
          <p:nvPr/>
        </p:nvSpPr>
        <p:spPr>
          <a:xfrm>
            <a:off x="2743200" y="1071720"/>
            <a:ext cx="457200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 [0,0,</a:t>
            </a:r>
            <a:r>
              <a:rPr b="0" lang="en-US" sz="1800" strike="noStrike" u="none">
                <a:solidFill>
                  <a:srgbClr val="d62e4e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[0,0,</a:t>
            </a:r>
            <a:r>
              <a:rPr b="0" lang="en-US" sz="18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[2, 12, </a:t>
            </a:r>
            <a:r>
              <a:rPr b="0" lang="en-US" sz="18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 ]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10 000 structures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6120360" y="5153040"/>
            <a:ext cx="382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15A8631A-F930-4926-9741-E8C4AF6C1FDE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feld 44"/>
          <p:cNvSpPr txBox="1"/>
          <p:nvPr/>
        </p:nvSpPr>
        <p:spPr>
          <a:xfrm>
            <a:off x="856800" y="3492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feld 70"/>
          <p:cNvSpPr txBox="1"/>
          <p:nvPr/>
        </p:nvSpPr>
        <p:spPr>
          <a:xfrm>
            <a:off x="900000" y="137232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3"/>
          <a:srcRect l="43466" t="39763" r="36738" b="44358"/>
          <a:stretch/>
        </p:blipFill>
        <p:spPr>
          <a:xfrm>
            <a:off x="9180000" y="108000"/>
            <a:ext cx="792000" cy="79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Conclusion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Conformer search works well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Small grids also good, but no eigenvectors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de-DE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E4F58A45-0D69-4512-AE4F-9BB00E6E3E1A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Outlook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504000" y="2340000"/>
            <a:ext cx="9072000" cy="292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Until now MolGri has only isotropic diffusion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hard is this approximation?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analytical binding rates k</a:t>
            </a:r>
            <a:r>
              <a:rPr b="0" lang="de-DE" sz="2400" strike="noStrike" u="none" baseline="-8000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on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Compare analytical solution, HOOMD and MolGri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HOOMD: Brownian dynamics for rigid bodies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Use patchy particles (</a:t>
            </a: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C</a:t>
            </a:r>
            <a:r>
              <a:rPr b="0" lang="de-DE" sz="2400" strike="noStrike" u="none" baseline="-8000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60</a:t>
            </a: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 Fullerenes) 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;Arial"/>
                <a:ea typeface="WenQuanYi Zen Hei"/>
              </a:rPr>
              <a:t>Use rod- and disc-lilke molecules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353E3331-84B6-4497-B6BA-8492A8B027A6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1"/>
          <a:stretch/>
        </p:blipFill>
        <p:spPr>
          <a:xfrm>
            <a:off x="7560000" y="540000"/>
            <a:ext cx="1800000" cy="176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"/>
          <p:cNvSpPr txBox="1"/>
          <p:nvPr/>
        </p:nvSpPr>
        <p:spPr>
          <a:xfrm>
            <a:off x="7380000" y="2340000"/>
            <a:ext cx="397980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https://en.wikipedia.org/wiki/Fullerene</a:t>
            </a:r>
            <a:endParaRPr b="0" lang="de-DE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2"/>
          <a:stretch/>
        </p:blipFill>
        <p:spPr>
          <a:xfrm>
            <a:off x="7654320" y="2880000"/>
            <a:ext cx="188568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"/>
          <p:cNvSpPr txBox="1"/>
          <p:nvPr/>
        </p:nvSpPr>
        <p:spPr>
          <a:xfrm>
            <a:off x="7520760" y="4779000"/>
            <a:ext cx="237924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G. Doppelbauer et al.,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Soft Matter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2012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,8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7768-7772.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3"/>
          <a:stretch/>
        </p:blipFill>
        <p:spPr>
          <a:xfrm>
            <a:off x="900000" y="356400"/>
            <a:ext cx="25200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"/>
          <p:cNvSpPr txBox="1"/>
          <p:nvPr/>
        </p:nvSpPr>
        <p:spPr>
          <a:xfrm>
            <a:off x="360000" y="1764000"/>
            <a:ext cx="414000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A. Gupta, T. Stait-Gardner, 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W.S. Price, </a:t>
            </a:r>
            <a:r>
              <a:rPr b="0" i="1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Adsorption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 </a:t>
            </a:r>
            <a:r>
              <a:rPr b="1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2021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b="0" i="1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27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503–533.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de-DE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 you for listening!</a:t>
            </a:r>
            <a:endParaRPr b="0" lang="de-DE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feld 13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feld 14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D6A19C5A-8FFF-401A-A322-E6E77E4493FA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6696000" y="2833200"/>
            <a:ext cx="1440000" cy="188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" descr=""/>
          <p:cNvPicPr/>
          <p:nvPr/>
        </p:nvPicPr>
        <p:blipFill>
          <a:blip r:embed="rId2"/>
          <a:stretch/>
        </p:blipFill>
        <p:spPr>
          <a:xfrm>
            <a:off x="5256000" y="3060000"/>
            <a:ext cx="1224000" cy="10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" descr=""/>
          <p:cNvPicPr/>
          <p:nvPr/>
        </p:nvPicPr>
        <p:blipFill>
          <a:blip r:embed="rId3"/>
          <a:stretch/>
        </p:blipFill>
        <p:spPr>
          <a:xfrm>
            <a:off x="1620000" y="3182400"/>
            <a:ext cx="1440000" cy="174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" descr=""/>
          <p:cNvPicPr/>
          <p:nvPr/>
        </p:nvPicPr>
        <p:blipFill>
          <a:blip r:embed="rId4"/>
          <a:stretch/>
        </p:blipFill>
        <p:spPr>
          <a:xfrm>
            <a:off x="180000" y="3708000"/>
            <a:ext cx="1224000" cy="104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" descr=""/>
          <p:cNvPicPr/>
          <p:nvPr/>
        </p:nvPicPr>
        <p:blipFill>
          <a:blip r:embed="rId5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" descr=""/>
          <p:cNvPicPr/>
          <p:nvPr/>
        </p:nvPicPr>
        <p:blipFill>
          <a:blip r:embed="rId6"/>
          <a:stretch/>
        </p:blipFill>
        <p:spPr>
          <a:xfrm>
            <a:off x="8100000" y="2797200"/>
            <a:ext cx="1800000" cy="209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" descr=""/>
          <p:cNvPicPr/>
          <p:nvPr/>
        </p:nvPicPr>
        <p:blipFill>
          <a:blip r:embed="rId7"/>
          <a:stretch/>
        </p:blipFill>
        <p:spPr>
          <a:xfrm>
            <a:off x="3060000" y="3042000"/>
            <a:ext cx="1908000" cy="18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feld 15"/>
          <p:cNvSpPr txBox="1"/>
          <p:nvPr/>
        </p:nvSpPr>
        <p:spPr>
          <a:xfrm>
            <a:off x="2743200" y="103680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" descr=""/>
          <p:cNvPicPr/>
          <p:nvPr/>
        </p:nvPicPr>
        <p:blipFill>
          <a:blip r:embed="rId1"/>
          <a:stretch/>
        </p:blipFill>
        <p:spPr>
          <a:xfrm>
            <a:off x="360000" y="18936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" descr=""/>
          <p:cNvPicPr/>
          <p:nvPr/>
        </p:nvPicPr>
        <p:blipFill>
          <a:blip r:embed="rId2"/>
          <a:stretch/>
        </p:blipFill>
        <p:spPr>
          <a:xfrm>
            <a:off x="5220000" y="18000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feld 16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feld 17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88BA48F1-E1F0-42F7-882B-D5A2EFEF26D3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feld 18"/>
          <p:cNvSpPr txBox="1"/>
          <p:nvPr/>
        </p:nvSpPr>
        <p:spPr>
          <a:xfrm>
            <a:off x="2743200" y="100080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feld 24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feld 25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ECD77CB3-4D3E-4560-B15F-94443EAE1A34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1"/>
          <a:stretch/>
        </p:blipFill>
        <p:spPr>
          <a:xfrm>
            <a:off x="5040000" y="18936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" descr=""/>
          <p:cNvPicPr/>
          <p:nvPr/>
        </p:nvPicPr>
        <p:blipFill>
          <a:blip r:embed="rId2"/>
          <a:stretch/>
        </p:blipFill>
        <p:spPr>
          <a:xfrm>
            <a:off x="324000" y="1908000"/>
            <a:ext cx="4680000" cy="350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feld 26"/>
          <p:cNvSpPr txBox="1"/>
          <p:nvPr/>
        </p:nvSpPr>
        <p:spPr>
          <a:xfrm>
            <a:off x="2743200" y="100116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" descr=""/>
          <p:cNvPicPr/>
          <p:nvPr/>
        </p:nvPicPr>
        <p:blipFill>
          <a:blip r:embed="rId1"/>
          <a:stretch/>
        </p:blipFill>
        <p:spPr>
          <a:xfrm>
            <a:off x="540000" y="3600000"/>
            <a:ext cx="9000000" cy="19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" descr=""/>
          <p:cNvPicPr/>
          <p:nvPr/>
        </p:nvPicPr>
        <p:blipFill>
          <a:blip r:embed="rId2"/>
          <a:stretch/>
        </p:blipFill>
        <p:spPr>
          <a:xfrm>
            <a:off x="504000" y="1692000"/>
            <a:ext cx="9000000" cy="169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feld 19"/>
          <p:cNvSpPr txBox="1"/>
          <p:nvPr/>
        </p:nvSpPr>
        <p:spPr>
          <a:xfrm>
            <a:off x="1296000" y="34560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feld 20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3AB935F6-334C-40F5-B512-1497F560A6AF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" descr=""/>
          <p:cNvPicPr/>
          <p:nvPr/>
        </p:nvPicPr>
        <p:blipFill>
          <a:blip r:embed="rId3"/>
          <a:srcRect l="7858" t="77848" r="72346" b="7845"/>
          <a:stretch/>
        </p:blipFill>
        <p:spPr>
          <a:xfrm>
            <a:off x="9216000" y="108000"/>
            <a:ext cx="72000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feld 21"/>
          <p:cNvSpPr txBox="1"/>
          <p:nvPr/>
        </p:nvSpPr>
        <p:spPr>
          <a:xfrm>
            <a:off x="2743200" y="100116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cart_50_</a:t>
            </a:r>
            <a:r>
              <a:rPr b="0" lang="en-US" sz="44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3faf46"/>
                </a:solidFill>
                <a:effectLst/>
                <a:uFillTx/>
                <a:latin typeface="Arial"/>
              </a:rPr>
              <a:t>7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b="0" lang="en-US" sz="4400" strike="noStrike" u="none">
                <a:solidFill>
                  <a:srgbClr val="2140e4"/>
                </a:solidFill>
                <a:effectLst/>
                <a:uFillTx/>
                <a:latin typeface="Arial"/>
              </a:rPr>
              <a:t>11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feld 27"/>
          <p:cNvSpPr txBox="1"/>
          <p:nvPr/>
        </p:nvSpPr>
        <p:spPr>
          <a:xfrm>
            <a:off x="6172200" y="13716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FF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feld 28"/>
          <p:cNvSpPr txBox="1"/>
          <p:nvPr/>
        </p:nvSpPr>
        <p:spPr>
          <a:xfrm>
            <a:off x="1371600" y="137196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DFT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F14E73DC-5E29-49A8-A81D-2740D919BFA9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1"/>
          <a:stretch/>
        </p:blipFill>
        <p:spPr>
          <a:xfrm>
            <a:off x="900000" y="1800000"/>
            <a:ext cx="3600000" cy="355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" descr=""/>
          <p:cNvPicPr/>
          <p:nvPr/>
        </p:nvPicPr>
        <p:blipFill>
          <a:blip r:embed="rId2"/>
          <a:srcRect l="37187" t="14370" r="10660" b="12618"/>
          <a:stretch/>
        </p:blipFill>
        <p:spPr>
          <a:xfrm>
            <a:off x="5688000" y="1856880"/>
            <a:ext cx="3600000" cy="36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feld 29"/>
          <p:cNvSpPr txBox="1"/>
          <p:nvPr/>
        </p:nvSpPr>
        <p:spPr>
          <a:xfrm>
            <a:off x="2743200" y="1001160"/>
            <a:ext cx="4572000" cy="7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[[-9, 9, </a:t>
            </a:r>
            <a:r>
              <a:rPr b="0" lang="en-US" sz="2000" strike="noStrike" u="none">
                <a:solidFill>
                  <a:srgbClr val="c9211e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3faf46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], [-9, 9, </a:t>
            </a:r>
            <a:r>
              <a:rPr b="0" lang="en-US" sz="2000" strike="noStrike" u="none">
                <a:solidFill>
                  <a:srgbClr val="2140e4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]]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26 950 structures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Outlook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504000" y="1800000"/>
            <a:ext cx="9072000" cy="3288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Anisotropic diffusion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Before: diffusion constant D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Goal: Find diffusion tensor (trans + rot)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Implement into MolGri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de-DE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get better rates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120360" y="5153040"/>
            <a:ext cx="382500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1EF1FC38-DCD9-4842-8631-7FA5C1D860BA}" type="slidenum"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900000" y="68400"/>
            <a:ext cx="25200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"/>
          <p:cNvSpPr txBox="1"/>
          <p:nvPr/>
        </p:nvSpPr>
        <p:spPr>
          <a:xfrm>
            <a:off x="360000" y="1440000"/>
            <a:ext cx="414000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A. Gupta, T. Stait-Gardner, 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W.S. Price, </a:t>
            </a:r>
            <a:r>
              <a:rPr b="0" i="1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Adsorption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 </a:t>
            </a:r>
            <a:r>
              <a:rPr b="1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2021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b="0" i="1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27</a:t>
            </a:r>
            <a:r>
              <a:rPr b="0" lang="de-DE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503–533.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2"/>
          <a:stretch/>
        </p:blipFill>
        <p:spPr>
          <a:xfrm>
            <a:off x="720000" y="3420000"/>
            <a:ext cx="4320000" cy="81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"/>
          <p:cNvSpPr txBox="1"/>
          <p:nvPr/>
        </p:nvSpPr>
        <p:spPr>
          <a:xfrm>
            <a:off x="2880000" y="5259960"/>
            <a:ext cx="4500000" cy="50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B. Carrasco, J. García de la Torre,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Biophysical Journal </a:t>
            </a:r>
            <a:r>
              <a:rPr b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1999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i="1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76</a:t>
            </a:r>
            <a:r>
              <a:rPr b="0" lang="de-DE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3044-3057.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8" name="" descr=""/>
          <p:cNvPicPr/>
          <p:nvPr/>
        </p:nvPicPr>
        <p:blipFill>
          <a:blip r:embed="rId3"/>
          <a:stretch/>
        </p:blipFill>
        <p:spPr>
          <a:xfrm>
            <a:off x="1260000" y="2631600"/>
            <a:ext cx="2520000" cy="33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" descr=""/>
          <p:cNvPicPr/>
          <p:nvPr/>
        </p:nvPicPr>
        <p:blipFill>
          <a:blip r:embed="rId4"/>
          <a:stretch/>
        </p:blipFill>
        <p:spPr>
          <a:xfrm>
            <a:off x="7020000" y="961200"/>
            <a:ext cx="2160000" cy="371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"/>
          <p:cNvSpPr txBox="1"/>
          <p:nvPr/>
        </p:nvSpPr>
        <p:spPr>
          <a:xfrm>
            <a:off x="6933240" y="489960"/>
            <a:ext cx="2426760" cy="77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HYDROPRO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2026-04-08T13:35:29Z</dcterms:created>
  <dc:creator/>
  <dc:description/>
  <dc:language>en-GB</dc:language>
  <cp:lastModifiedBy/>
  <dcterms:modified xsi:type="dcterms:W3CDTF">2026-05-07T11:07:04Z</dcterms:modified>
  <cp:revision>269</cp:revision>
  <dc:subject/>
  <dc:title/>
</cp:coreProperties>
</file>